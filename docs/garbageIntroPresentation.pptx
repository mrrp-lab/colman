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63" r:id="rId15"/>
    <p:sldId id="271" r:id="rId16"/>
    <p:sldId id="272" r:id="rId17"/>
    <p:sldId id="273" r:id="rId18"/>
    <p:sldId id="274" r:id="rId19"/>
    <p:sldId id="276" r:id="rId20"/>
    <p:sldId id="275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1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76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6344D-DC49-BEC1-C775-75342DB87C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DEFD50-DA7F-707F-ED96-D4E9FC2A36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50BFA-84F6-C184-C682-36CE7F5E8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2D05C-4DD6-4972-9195-AB11AD2A5163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B4A75-E5FC-5460-E8ED-F8FD840CD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80E1F-FF9C-A7CD-53B6-A07F10C7B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C357-74A5-41BE-A157-F1E4070EB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154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45AA0-4F18-52CE-05EB-8ACDEA503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2CFB5-1900-35CB-978E-03EA4939B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1273F-2646-72A1-CCF5-E77AE8992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2D05C-4DD6-4972-9195-AB11AD2A5163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1E059-430B-1BA9-42D0-ED26B51D6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B76CB-DD2D-BB61-FFC7-F55918721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C357-74A5-41BE-A157-F1E4070EB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294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632C8-171B-4239-AA9C-9AC52DB8F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03943B-9D0E-57D7-1E68-DBE0ED56D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CC7EE-2EE8-AE05-55D1-33748B66B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2D05C-4DD6-4972-9195-AB11AD2A5163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CE339-BD86-8674-E075-7D2FFCA2C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E28E8-C6BA-5D8E-485F-1A0D31FFC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C357-74A5-41BE-A157-F1E4070EB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49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B53C2-6AC1-78EE-34D4-F09D0A0CD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836B0-0F59-9A2B-21C2-99ECCBDE21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F0A1AC-774D-35C1-79A9-39F11AB203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45745A-1FD9-8D77-D440-BCDA4F6EE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2D05C-4DD6-4972-9195-AB11AD2A5163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385399-3DB1-CC66-8ABB-8600AD2DA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A4A473-B859-A396-A231-0121D9D98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C357-74A5-41BE-A157-F1E4070EB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052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E9AA8-0905-1625-28D5-F613B293B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300AD0-C3E3-1FF7-9C8F-288A05A252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F77C25-B8D5-76F4-1E5E-FBE6BAB078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03CFE-6DC6-DB51-CC8B-678BA995EB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903B5F-83E2-283B-48D6-2A7D2D50A4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D48F90-7B06-828A-01F9-26CD0A10B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2D05C-4DD6-4972-9195-AB11AD2A5163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A9F5D2-3969-4712-1340-C624092CC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1E88E7-F846-63CE-F05C-BC1A94A1B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C357-74A5-41BE-A157-F1E4070EB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187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30E84-7A3E-5F78-4E44-8048EE73D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CA22C1-6D2E-578B-259F-E26C73DE8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2D05C-4DD6-4972-9195-AB11AD2A5163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11A26E-C9C1-229F-5FCF-26FF362E9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096044-175A-915F-2D90-E23D898C5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C357-74A5-41BE-A157-F1E4070EB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259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CEAED0-63E5-2B2C-AE2D-0497B670B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2D05C-4DD6-4972-9195-AB11AD2A5163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A53F23-08FF-DF8D-39DF-1D438DCB9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751E9A-2F03-A66D-15FB-445B08A26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C357-74A5-41BE-A157-F1E4070EB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835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7490F-6C2D-DC4E-46D9-628764B25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ADC1A-19DD-4969-108B-D0FCFECB0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FA93CC-D660-F1F9-7A23-025087449B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DCA5B1-0C11-C1EB-8B04-BD78D0E5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2D05C-4DD6-4972-9195-AB11AD2A5163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A94A5A-D045-7C84-BC7B-2CAEBAECC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101A66-CBCD-92AB-DB34-89BE3616E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C357-74A5-41BE-A157-F1E4070EB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78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36D4E-01C8-4BB2-84F7-2C324E077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DD5164-5A2C-101F-CD1F-6258D996C8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1A2480-1EB8-BEA1-B4A3-0E1AEDD7AE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96EE3B-F976-6947-D7FE-B98F03A46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2D05C-4DD6-4972-9195-AB11AD2A5163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89193A-D466-759A-5D0A-FD3AA4DA3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B1AFFD-9C2C-4040-C2DC-4A6C56E6A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C357-74A5-41BE-A157-F1E4070EB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81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659BE-B8AB-AA6A-C505-449CD9AE7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99F6F3-71B3-9281-D68A-F1616C4B5D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A694C-D22B-A409-D5BC-86A36C06D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2D05C-4DD6-4972-9195-AB11AD2A5163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1127E-A981-E59C-4A0A-9FA4D5B22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C0CF5-1625-E927-B20B-971E5F40C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C357-74A5-41BE-A157-F1E4070EB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65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6B120F-0BD0-0DF6-A852-CAEF4A094B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1FAD3D-A584-B4C5-574F-BAAB846FD9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80658-7297-1056-B423-63F4F65EC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2D05C-4DD6-4972-9195-AB11AD2A5163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66CDD-7D78-441E-32A6-8EA4EFE0D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C90B5-16A6-2A4C-E564-9A5A86E04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6C357-74A5-41BE-A157-F1E4070EB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048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381241-31D3-9BC8-5AC0-4CB72B3FE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4B3F54-102F-B5FB-FC99-BD35C5058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317A0-102B-7722-0F7D-E55913BD26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62D05C-4DD6-4972-9195-AB11AD2A5163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B635A-7B88-459F-7581-BDD1D7EDB0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1CF0C-980E-77BA-89F9-A9871A958D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6C357-74A5-41BE-A157-F1E4070EB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16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cleanrobotics.com" TargetMode="External"/><Relationship Id="rId3" Type="http://schemas.openxmlformats.org/officeDocument/2006/relationships/hyperlink" Target="https://www.wasterobotics.com/" TargetMode="External"/><Relationship Id="rId7" Type="http://schemas.openxmlformats.org/officeDocument/2006/relationships/hyperlink" Target="https://oscarsort.com/" TargetMode="External"/><Relationship Id="rId2" Type="http://schemas.openxmlformats.org/officeDocument/2006/relationships/hyperlink" Target="https://bulkhandlingsystems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ine.world/" TargetMode="External"/><Relationship Id="rId11" Type="http://schemas.openxmlformats.org/officeDocument/2006/relationships/image" Target="../media/image8.svg"/><Relationship Id="rId5" Type="http://schemas.openxmlformats.org/officeDocument/2006/relationships/hyperlink" Target="https://ganiga.ai/" TargetMode="External"/><Relationship Id="rId10" Type="http://schemas.openxmlformats.org/officeDocument/2006/relationships/image" Target="../media/image7.png"/><Relationship Id="rId4" Type="http://schemas.openxmlformats.org/officeDocument/2006/relationships/hyperlink" Target="https://www.glacier.ai/" TargetMode="External"/><Relationship Id="rId9" Type="http://schemas.openxmlformats.org/officeDocument/2006/relationships/hyperlink" Target="https://tracxn.com/d/trending-business-models/startups-in-robotic-waste-sorting/__YUczLZu0tfef8u4wBZCmdYiOuiJ-QdKKuhOK0bgzgEc/companies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6.xml"/><Relationship Id="rId1" Type="http://schemas.openxmlformats.org/officeDocument/2006/relationships/video" Target="https://www.youtube.com/embed/2gjUpDnJrZA?feature=oembed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6.xml"/><Relationship Id="rId1" Type="http://schemas.openxmlformats.org/officeDocument/2006/relationships/video" Target="https://www.youtube.com/embed/KQ7Ci1AhHeo?feature=oembed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6.xml"/><Relationship Id="rId1" Type="http://schemas.openxmlformats.org/officeDocument/2006/relationships/video" Target="https://www.youtube.com/embed/E18PH-V-Lo0?feature=oembed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slideLayout" Target="../slideLayouts/slideLayout6.xml"/><Relationship Id="rId1" Type="http://schemas.openxmlformats.org/officeDocument/2006/relationships/video" Target="https://www.youtube.com/embed/LJYWRTRJThY?feature=oembed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Layout" Target="../slideLayouts/slideLayout6.xml"/><Relationship Id="rId1" Type="http://schemas.openxmlformats.org/officeDocument/2006/relationships/video" Target="https://www.youtube.com/embed/je6UqHIY_tE?feature=oembed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slideLayout" Target="../slideLayouts/slideLayout6.xml"/><Relationship Id="rId1" Type="http://schemas.openxmlformats.org/officeDocument/2006/relationships/video" Target="https://www.youtube.com/embed/O7DZcaV6MaI?feature=oembed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edropro/TACO" TargetMode="External"/><Relationship Id="rId2" Type="http://schemas.openxmlformats.org/officeDocument/2006/relationships/hyperlink" Target="https://sites.google.com/unizar.es/spectralwaste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hyperlink" Target="https://github.com/garythung/trashnet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le of garbage on the ground&#10;&#10;AI-generated content may be incorrect.">
            <a:extLst>
              <a:ext uri="{FF2B5EF4-FFF2-40B4-BE49-F238E27FC236}">
                <a16:creationId xmlns:a16="http://schemas.microsoft.com/office/drawing/2014/main" id="{D7A45F55-A495-FE4C-36AE-BF7F603B07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7"/>
            <a:ext cx="12192000" cy="68548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D88264-0CF6-70E2-13F4-4D1043FBE1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Garbage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AE512A-DFAA-BC1A-765F-839088DD29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MRRP Lab - Waste Stream Processing</a:t>
            </a:r>
          </a:p>
          <a:p>
            <a:r>
              <a:rPr lang="en-US" dirty="0">
                <a:solidFill>
                  <a:schemeClr val="bg1"/>
                </a:solidFill>
              </a:rPr>
              <a:t>October 10</a:t>
            </a:r>
            <a:r>
              <a:rPr lang="en-US" baseline="30000" dirty="0">
                <a:solidFill>
                  <a:schemeClr val="bg1"/>
                </a:solidFill>
              </a:rPr>
              <a:t>th</a:t>
            </a:r>
            <a:r>
              <a:rPr lang="en-US" dirty="0">
                <a:solidFill>
                  <a:schemeClr val="bg1"/>
                </a:solidFill>
              </a:rPr>
              <a:t>, 2025</a:t>
            </a:r>
          </a:p>
          <a:p>
            <a:r>
              <a:rPr lang="en-US" dirty="0">
                <a:solidFill>
                  <a:schemeClr val="bg1"/>
                </a:solidFill>
              </a:rPr>
              <a:t>Taiming YuenJames</a:t>
            </a:r>
          </a:p>
        </p:txBody>
      </p:sp>
    </p:spTree>
    <p:extLst>
      <p:ext uri="{BB962C8B-B14F-4D97-AF65-F5344CB8AC3E}">
        <p14:creationId xmlns:p14="http://schemas.microsoft.com/office/powerpoint/2010/main" val="799546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enguins jumping out of the ice&#10;&#10;AI-generated content may be incorrect.">
            <a:extLst>
              <a:ext uri="{FF2B5EF4-FFF2-40B4-BE49-F238E27FC236}">
                <a16:creationId xmlns:a16="http://schemas.microsoft.com/office/drawing/2014/main" id="{3A1D3E3B-13B0-B3F2-093B-160AA096DB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8114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86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35029-652A-FD31-D703-00B734DF7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74E59-4568-642D-9A8C-872B609CC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Fall 2025</a:t>
            </a:r>
            <a:r>
              <a:rPr lang="en-US" dirty="0"/>
              <a:t>: finalize research questions, literature &amp; market review, safety approvals, hardware ordered, start system integration</a:t>
            </a:r>
          </a:p>
          <a:p>
            <a:pPr lvl="1"/>
            <a:r>
              <a:rPr lang="en-US" dirty="0"/>
              <a:t>Deliverable: one-page proposal and pilot plan.</a:t>
            </a:r>
          </a:p>
          <a:p>
            <a:r>
              <a:rPr lang="en-US" b="1" dirty="0"/>
              <a:t>Winter 2026</a:t>
            </a:r>
            <a:r>
              <a:rPr lang="en-US" dirty="0"/>
              <a:t>: system integration, dataset specification, baseline perception &amp; single-arm grasping, start experiments.</a:t>
            </a:r>
          </a:p>
          <a:p>
            <a:pPr lvl="1"/>
            <a:r>
              <a:rPr lang="en-US" dirty="0"/>
              <a:t>Deliverable: functioning testbed and baseline implementation.</a:t>
            </a:r>
          </a:p>
          <a:p>
            <a:r>
              <a:rPr lang="en-US" b="1" dirty="0"/>
              <a:t>Spring 2026: </a:t>
            </a:r>
            <a:r>
              <a:rPr lang="en-US" dirty="0"/>
              <a:t>develop core methods (perception, manipulation, system control), run controlled experiments, iterate hardware/software, expand dataset, university pilot</a:t>
            </a:r>
          </a:p>
          <a:p>
            <a:pPr lvl="1"/>
            <a:r>
              <a:rPr lang="en-US" dirty="0"/>
              <a:t>Deliverable: experimental protocols + interim results.</a:t>
            </a:r>
          </a:p>
        </p:txBody>
      </p:sp>
      <p:pic>
        <p:nvPicPr>
          <p:cNvPr id="5" name="Graphic 4" descr="Flip calendar with solid fill">
            <a:extLst>
              <a:ext uri="{FF2B5EF4-FFF2-40B4-BE49-F238E27FC236}">
                <a16:creationId xmlns:a16="http://schemas.microsoft.com/office/drawing/2014/main" id="{3D3D6171-C37D-A25E-C6A3-CB477B0EB9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07973" y="47849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452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8FB839-C5CC-29B2-39F3-28A0C21A7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A85F2-A1F0-9A75-E989-A70B1E605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Fall 2026</a:t>
            </a:r>
            <a:r>
              <a:rPr lang="en-US" dirty="0"/>
              <a:t>: finalize experiments &amp; analysis, papers written, thesis preparation, submit to conferences &amp; journals.</a:t>
            </a:r>
          </a:p>
          <a:p>
            <a:pPr lvl="1"/>
            <a:r>
              <a:rPr lang="en-US" dirty="0"/>
              <a:t>Deliverable: submitted senior paper and master’s thesis draft.</a:t>
            </a:r>
          </a:p>
          <a:p>
            <a:r>
              <a:rPr lang="en-US" b="1" dirty="0"/>
              <a:t>Winter 2027</a:t>
            </a:r>
            <a:r>
              <a:rPr lang="en-US" dirty="0"/>
              <a:t>: papers published, travel to conference presentations, deployment demos for university stakeholders, further work with Western or City of Bellingham.</a:t>
            </a:r>
          </a:p>
          <a:p>
            <a:pPr lvl="1"/>
            <a:r>
              <a:rPr lang="en-US" dirty="0"/>
              <a:t>Deliverable: presentations, outreach, and archived data/code.</a:t>
            </a:r>
          </a:p>
          <a:p>
            <a:r>
              <a:rPr lang="en-US" b="1" dirty="0"/>
              <a:t>Spring 2027</a:t>
            </a:r>
            <a:r>
              <a:rPr lang="en-US" dirty="0"/>
              <a:t>: initial project complete, continue future research in related areas.</a:t>
            </a:r>
            <a:endParaRPr lang="en-US" b="1" dirty="0"/>
          </a:p>
        </p:txBody>
      </p:sp>
      <p:pic>
        <p:nvPicPr>
          <p:cNvPr id="5" name="Graphic 4" descr="Flip calendar with solid fill">
            <a:extLst>
              <a:ext uri="{FF2B5EF4-FFF2-40B4-BE49-F238E27FC236}">
                <a16:creationId xmlns:a16="http://schemas.microsoft.com/office/drawing/2014/main" id="{B79C9D7B-5583-CBA2-5B4F-1616EB014D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07973" y="47849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40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9B8C0-BD10-B93D-E915-02DA468BE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Topic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CE92D-5B32-E886-CD17-6302173FC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900" dirty="0"/>
              <a:t>Optimizing per-item classification accuracy under heavy contamination (ex. via RGB-D + NIR)</a:t>
            </a:r>
          </a:p>
          <a:p>
            <a:r>
              <a:rPr lang="en-US" sz="1900" dirty="0"/>
              <a:t>Real-time grasp planning for mixed deformable/rigid waste with UR3e reachability constraints</a:t>
            </a:r>
          </a:p>
          <a:p>
            <a:r>
              <a:rPr lang="en-US" sz="1900" dirty="0"/>
              <a:t>Coordinating two UR3e arms and conveyors to maximize items/minute (throughput)</a:t>
            </a:r>
          </a:p>
          <a:p>
            <a:r>
              <a:rPr lang="en-US" sz="1900" dirty="0"/>
              <a:t>Low-cost retrofit vision systems for campus-wide smart-sorting bins (edge/cloud compute)</a:t>
            </a:r>
          </a:p>
          <a:p>
            <a:r>
              <a:rPr lang="en-US" sz="1900" dirty="0"/>
              <a:t>HITL hybrid sorting: </a:t>
            </a:r>
            <a:r>
              <a:rPr lang="en-US" sz="2000" dirty="0"/>
              <a:t>improving recall by combining humans and robots at critical points</a:t>
            </a:r>
          </a:p>
          <a:p>
            <a:r>
              <a:rPr lang="en-US" sz="1900" dirty="0"/>
              <a:t>Robust vacuum vs. gripper performance trade-offs on wet/soiled items</a:t>
            </a:r>
          </a:p>
          <a:p>
            <a:r>
              <a:rPr lang="en-US" sz="1900" dirty="0"/>
              <a:t>Active learning pipeline for waste labels collected inline to reduce manual annotation time</a:t>
            </a:r>
          </a:p>
          <a:p>
            <a:r>
              <a:rPr lang="en-US" sz="1900" dirty="0"/>
              <a:t>Behavioral nudges vs. automated sorting: measuring on-campus sorting improvement</a:t>
            </a:r>
          </a:p>
          <a:p>
            <a:r>
              <a:rPr lang="en-US" sz="1900" dirty="0"/>
              <a:t>General economics – making this tech accessible to anyone for cheap</a:t>
            </a:r>
          </a:p>
          <a:p>
            <a:endParaRPr lang="en-US" sz="1900" dirty="0"/>
          </a:p>
        </p:txBody>
      </p:sp>
      <p:pic>
        <p:nvPicPr>
          <p:cNvPr id="5" name="Graphic 4" descr="Flask with solid fill">
            <a:extLst>
              <a:ext uri="{FF2B5EF4-FFF2-40B4-BE49-F238E27FC236}">
                <a16:creationId xmlns:a16="http://schemas.microsoft.com/office/drawing/2014/main" id="{51283CBE-6717-775E-66FB-3A0B0EA8DB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25816" y="48417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300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03033-6CEB-F292-FB07-05B31A6BF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E7153-1AF6-A390-7D86-3FF423A69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Bulk Handling Systems — </a:t>
            </a:r>
            <a:r>
              <a:rPr lang="en-US" dirty="0">
                <a:hlinkClick r:id="rId2"/>
              </a:rPr>
              <a:t>bulkhandlingsystems.com</a:t>
            </a:r>
            <a:endParaRPr lang="en-US" dirty="0"/>
          </a:p>
          <a:p>
            <a:r>
              <a:rPr lang="en-US" dirty="0"/>
              <a:t>Waste Robotics — </a:t>
            </a:r>
            <a:r>
              <a:rPr lang="en-US" dirty="0">
                <a:hlinkClick r:id="rId3"/>
              </a:rPr>
              <a:t>wasterobotics.com</a:t>
            </a:r>
            <a:endParaRPr lang="en-US" dirty="0"/>
          </a:p>
          <a:p>
            <a:r>
              <a:rPr lang="en-US" dirty="0"/>
              <a:t>Glacier — </a:t>
            </a:r>
            <a:r>
              <a:rPr lang="en-US" dirty="0">
                <a:hlinkClick r:id="rId4"/>
              </a:rPr>
              <a:t>glacier.ai</a:t>
            </a:r>
            <a:endParaRPr lang="en-US" dirty="0"/>
          </a:p>
          <a:p>
            <a:r>
              <a:rPr lang="en-US" dirty="0" err="1"/>
              <a:t>Ganiga</a:t>
            </a:r>
            <a:r>
              <a:rPr lang="en-US" dirty="0"/>
              <a:t> — </a:t>
            </a:r>
            <a:r>
              <a:rPr lang="en-US" dirty="0">
                <a:hlinkClick r:id="rId5"/>
              </a:rPr>
              <a:t>ganiga.ai</a:t>
            </a:r>
            <a:endParaRPr lang="en-US" dirty="0"/>
          </a:p>
          <a:p>
            <a:r>
              <a:rPr lang="en-US" dirty="0"/>
              <a:t>Bin-e — </a:t>
            </a:r>
            <a:r>
              <a:rPr lang="en-US" dirty="0" err="1">
                <a:hlinkClick r:id="rId6"/>
              </a:rPr>
              <a:t>bine.world</a:t>
            </a:r>
            <a:endParaRPr lang="en-US" dirty="0"/>
          </a:p>
          <a:p>
            <a:r>
              <a:rPr lang="en-US" dirty="0" err="1"/>
              <a:t>Oscarsort</a:t>
            </a:r>
            <a:r>
              <a:rPr lang="en-US" dirty="0"/>
              <a:t> —</a:t>
            </a:r>
            <a:r>
              <a:rPr lang="en-US" dirty="0">
                <a:hlinkClick r:id="rId7"/>
              </a:rPr>
              <a:t>oscarsort.com</a:t>
            </a:r>
            <a:endParaRPr lang="en-US" dirty="0"/>
          </a:p>
          <a:p>
            <a:r>
              <a:rPr lang="en-US" dirty="0" err="1"/>
              <a:t>TrashBot</a:t>
            </a:r>
            <a:r>
              <a:rPr lang="en-US" dirty="0"/>
              <a:t> — </a:t>
            </a:r>
            <a:r>
              <a:rPr lang="en-US" dirty="0">
                <a:hlinkClick r:id="rId8" action="ppaction://hlinkfile"/>
              </a:rPr>
              <a:t>cleanrobotics.com</a:t>
            </a:r>
            <a:endParaRPr lang="en-US" dirty="0"/>
          </a:p>
          <a:p>
            <a:r>
              <a:rPr lang="en-US" dirty="0">
                <a:hlinkClick r:id="rId9"/>
              </a:rPr>
              <a:t>Startup Overview</a:t>
            </a:r>
            <a:endParaRPr lang="en-US" dirty="0"/>
          </a:p>
        </p:txBody>
      </p:sp>
      <p:pic>
        <p:nvPicPr>
          <p:cNvPr id="7" name="Graphic 6" descr="Upward trend with solid fill">
            <a:extLst>
              <a:ext uri="{FF2B5EF4-FFF2-40B4-BE49-F238E27FC236}">
                <a16:creationId xmlns:a16="http://schemas.microsoft.com/office/drawing/2014/main" id="{BA96F3B8-E0AF-B3D0-D87E-7FA73F88FF2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84343" y="51602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377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46903-390E-A673-63A7-0DE01B9B1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Bulk Handling Systems</a:t>
            </a:r>
          </a:p>
        </p:txBody>
      </p:sp>
      <p:pic>
        <p:nvPicPr>
          <p:cNvPr id="3" name="Online Media 2" title="Max-AI™ AQC at Penn Waste">
            <a:hlinkClick r:id="" action="ppaction://media"/>
            <a:extLst>
              <a:ext uri="{FF2B5EF4-FFF2-40B4-BE49-F238E27FC236}">
                <a16:creationId xmlns:a16="http://schemas.microsoft.com/office/drawing/2014/main" id="{9B3C803B-BFC5-5194-5CCB-DA3E2FF9A22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838200" y="1460205"/>
            <a:ext cx="8504257" cy="4804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985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FED09-20A6-889E-FDCE-44B604785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Waste Robotics</a:t>
            </a:r>
          </a:p>
        </p:txBody>
      </p:sp>
      <p:pic>
        <p:nvPicPr>
          <p:cNvPr id="3" name="Online Media 2" title="Robotic Waste Recycling Recyclables in Dunkerque, France">
            <a:hlinkClick r:id="" action="ppaction://media"/>
            <a:extLst>
              <a:ext uri="{FF2B5EF4-FFF2-40B4-BE49-F238E27FC236}">
                <a16:creationId xmlns:a16="http://schemas.microsoft.com/office/drawing/2014/main" id="{ADBD050F-7ECC-7326-A478-7C53378208F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838200" y="1516912"/>
            <a:ext cx="8388952" cy="4739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295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B0C86-0A59-46CF-941B-E5B8BE6E1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Glacier</a:t>
            </a:r>
          </a:p>
        </p:txBody>
      </p:sp>
      <p:pic>
        <p:nvPicPr>
          <p:cNvPr id="3" name="Online Media 2" title="Glacier’s AI Robots Tackle Recycling Crisis, Cutting Waste and Emissions | Mashable">
            <a:hlinkClick r:id="" action="ppaction://media"/>
            <a:extLst>
              <a:ext uri="{FF2B5EF4-FFF2-40B4-BE49-F238E27FC236}">
                <a16:creationId xmlns:a16="http://schemas.microsoft.com/office/drawing/2014/main" id="{CE0A1CE0-00A3-C0D3-1180-D8E1A4A1302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838200" y="1453116"/>
            <a:ext cx="8564593" cy="483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277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8D43A-FE70-6353-E9F6-1F7E9D9FD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Ganiga</a:t>
            </a:r>
            <a:endParaRPr lang="en-US" dirty="0"/>
          </a:p>
        </p:txBody>
      </p:sp>
      <p:pic>
        <p:nvPicPr>
          <p:cNvPr id="4" name="Picture 3" descr="A group of people posing for a photo&#10;&#10;AI-generated content may be incorrect.">
            <a:extLst>
              <a:ext uri="{FF2B5EF4-FFF2-40B4-BE49-F238E27FC236}">
                <a16:creationId xmlns:a16="http://schemas.microsoft.com/office/drawing/2014/main" id="{2585AF06-914D-4EE8-0336-5E1E9EFBF4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16149"/>
            <a:ext cx="6355906" cy="476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679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1881A-6C9C-BF1A-1D75-1A6C19CDB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Bin-e</a:t>
            </a:r>
          </a:p>
        </p:txBody>
      </p:sp>
      <p:pic>
        <p:nvPicPr>
          <p:cNvPr id="3" name="Online Media 2" title="Bin-e - the smartest waste bin worldwide">
            <a:hlinkClick r:id="" action="ppaction://media"/>
            <a:extLst>
              <a:ext uri="{FF2B5EF4-FFF2-40B4-BE49-F238E27FC236}">
                <a16:creationId xmlns:a16="http://schemas.microsoft.com/office/drawing/2014/main" id="{54713CEA-D8D9-2F58-CE5C-C9A9BF80320A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838200" y="1566530"/>
            <a:ext cx="8439136" cy="476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360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DA934-D240-E048-D897-485069D25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OscarSort</a:t>
            </a:r>
            <a:endParaRPr lang="en-US" dirty="0"/>
          </a:p>
        </p:txBody>
      </p:sp>
      <p:pic>
        <p:nvPicPr>
          <p:cNvPr id="3" name="Online Media 2" title="Oscar Sort, Making Every Day Earth Day 🌏">
            <a:hlinkClick r:id="" action="ppaction://media"/>
            <a:extLst>
              <a:ext uri="{FF2B5EF4-FFF2-40B4-BE49-F238E27FC236}">
                <a16:creationId xmlns:a16="http://schemas.microsoft.com/office/drawing/2014/main" id="{ED49C431-E815-3D94-0E90-1D17715F04DB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838200" y="1460204"/>
            <a:ext cx="6781209" cy="5085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550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30096-178A-0636-D599-232E1A8FB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TrashBot</a:t>
            </a:r>
            <a:endParaRPr lang="en-US" dirty="0"/>
          </a:p>
        </p:txBody>
      </p:sp>
      <p:pic>
        <p:nvPicPr>
          <p:cNvPr id="3" name="Online Media 2" title="What is TrashBot? Sorting Waste with Artificial Intelligence &amp; Robotics">
            <a:hlinkClick r:id="" action="ppaction://media"/>
            <a:extLst>
              <a:ext uri="{FF2B5EF4-FFF2-40B4-BE49-F238E27FC236}">
                <a16:creationId xmlns:a16="http://schemas.microsoft.com/office/drawing/2014/main" id="{4D00C1D9-9308-77C9-C2D7-CC1C6920D95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838200" y="1533465"/>
            <a:ext cx="8545503" cy="4828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5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19D0D-45B6-2DA6-E7E8-A1347279D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 Sorting vs Post-Collection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D44C-DC6A-3741-88FA-10E24D032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Retrofit low-cost sensors + feedback displays on campus bins vs centralized robotic sorting in lab.</a:t>
            </a:r>
          </a:p>
          <a:p>
            <a:r>
              <a:rPr lang="en-US" dirty="0"/>
              <a:t>Measure diversion improvement by comparing contamination rate and quantity of recovered recyclables pre/post deployment.</a:t>
            </a:r>
          </a:p>
          <a:p>
            <a:r>
              <a:rPr lang="en-US" dirty="0"/>
              <a:t>Research question: quantify diversion gain from networked smart bins with real-time feedback versus centralized robotic sorting.</a:t>
            </a:r>
          </a:p>
          <a:p>
            <a:r>
              <a:rPr lang="en-US" dirty="0"/>
              <a:t>Key metrics: contamination rate, mass/volume of recovered recyclables, user compliance change, and cost per kg recovered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BEA24D-C5E8-AE15-7AC1-D9C370B0A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732" y="48985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38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B9AC0-1ED9-F657-4C14-12ACC994D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University Partnership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168B7-79D3-C6AA-CCAF-27DC40466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Diverting waste stream: negotiate with facilities to route a subset of campus waste or recycling to our lab for controlled experiments and labeled ground truth.</a:t>
            </a:r>
          </a:p>
          <a:p>
            <a:r>
              <a:rPr lang="en-US" dirty="0"/>
              <a:t>Funding options: internal undergraduate research grants, department instrumentation funds, sustainability office, industry sponsorship (equipment partners), campus innovation challenges.</a:t>
            </a:r>
          </a:p>
          <a:p>
            <a:r>
              <a:rPr lang="en-US" dirty="0"/>
              <a:t>Permissions/logistics: safety sign-off, insurance, waste handling compliance, cleaning/ventilation plans, staff training.</a:t>
            </a:r>
          </a:p>
          <a:p>
            <a:r>
              <a:rPr lang="en-US" dirty="0"/>
              <a:t>Data access: collaborate with facilities for historical waste audits to establish baseline metrics.</a:t>
            </a:r>
          </a:p>
        </p:txBody>
      </p:sp>
      <p:pic>
        <p:nvPicPr>
          <p:cNvPr id="7" name="Graphic 6" descr="Schoolhouse with solid fill">
            <a:extLst>
              <a:ext uri="{FF2B5EF4-FFF2-40B4-BE49-F238E27FC236}">
                <a16:creationId xmlns:a16="http://schemas.microsoft.com/office/drawing/2014/main" id="{7E093DD4-33B9-4AC4-E6C9-7A35194025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56251" y="46960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774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B129A-99B0-84A8-D03B-0421BF79C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B617C-8F15-1028-43D3-E2B1B87782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Perception &amp; dataset collection</a:t>
            </a:r>
          </a:p>
          <a:p>
            <a:r>
              <a:rPr lang="en-US" dirty="0"/>
              <a:t>Manipulation &amp; end-effector design</a:t>
            </a:r>
          </a:p>
          <a:p>
            <a:r>
              <a:rPr lang="en-US" dirty="0"/>
              <a:t>Systems &amp; control (multi-arm + conveyor coordination)</a:t>
            </a:r>
          </a:p>
          <a:p>
            <a:r>
              <a:rPr lang="en-US" dirty="0"/>
              <a:t>User studies &amp; campus deployment (smart bins)</a:t>
            </a:r>
          </a:p>
          <a:p>
            <a:r>
              <a:rPr lang="en-US" dirty="0"/>
              <a:t>Data analysis &amp; writing/publishing</a:t>
            </a:r>
          </a:p>
          <a:p>
            <a:r>
              <a:rPr lang="en-US" dirty="0"/>
              <a:t>Etc.</a:t>
            </a:r>
          </a:p>
        </p:txBody>
      </p:sp>
      <p:pic>
        <p:nvPicPr>
          <p:cNvPr id="7" name="Graphic 6" descr="Users with solid fill">
            <a:extLst>
              <a:ext uri="{FF2B5EF4-FFF2-40B4-BE49-F238E27FC236}">
                <a16:creationId xmlns:a16="http://schemas.microsoft.com/office/drawing/2014/main" id="{7463CE5B-2DCC-014F-CE96-4455153DD9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11302" y="48378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2791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62EED-4D0D-BBBF-75D6-3064D73F5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465" y="365124"/>
            <a:ext cx="10515600" cy="1325563"/>
          </a:xfrm>
        </p:spPr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8017C-D0AD-1C07-3EA7-3E21F2381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Hardware needed:</a:t>
            </a:r>
          </a:p>
          <a:p>
            <a:pPr lvl="1"/>
            <a:r>
              <a:rPr lang="en-US" dirty="0"/>
              <a:t>mounting fixtures</a:t>
            </a:r>
          </a:p>
          <a:p>
            <a:pPr lvl="1"/>
            <a:r>
              <a:rPr lang="en-US" dirty="0"/>
              <a:t>end-effectors (vacuum + soft gripper prototypes)</a:t>
            </a:r>
          </a:p>
          <a:p>
            <a:pPr lvl="1"/>
            <a:r>
              <a:rPr lang="en-US" dirty="0"/>
              <a:t>hardware sorting system if not arms</a:t>
            </a:r>
          </a:p>
          <a:p>
            <a:pPr lvl="1"/>
            <a:r>
              <a:rPr lang="en-US" dirty="0"/>
              <a:t>NIR sensor or low-cost multispectral add-on</a:t>
            </a:r>
          </a:p>
          <a:p>
            <a:pPr lvl="1"/>
            <a:r>
              <a:rPr lang="en-US" dirty="0"/>
              <a:t>edge compute device(s) for smart bins</a:t>
            </a:r>
          </a:p>
          <a:p>
            <a:r>
              <a:rPr lang="en-US" dirty="0"/>
              <a:t>Budget estimate: prototypes + sensors ≈ $5k–$15k, travel/publication ≈ $2k.</a:t>
            </a:r>
          </a:p>
        </p:txBody>
      </p:sp>
      <p:pic>
        <p:nvPicPr>
          <p:cNvPr id="5" name="Graphic 4" descr="Bitcoin with solid fill">
            <a:extLst>
              <a:ext uri="{FF2B5EF4-FFF2-40B4-BE49-F238E27FC236}">
                <a16:creationId xmlns:a16="http://schemas.microsoft.com/office/drawing/2014/main" id="{10359201-427A-2BE8-4C4B-0F6369D3AD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25703" y="57070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9954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AAF18-E2FD-3829-0380-CC700B2F1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7E807-5FB9-EB75-2311-EF6A226EF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IROS (IEEE/RSJ International Conference on Intelligent Robots and Systems) — strong for robotics systems and applied demos.</a:t>
            </a:r>
          </a:p>
          <a:p>
            <a:r>
              <a:rPr lang="en-US" dirty="0"/>
              <a:t>ICRA (IEEE International Conference on Robotics and Automation) — top robotics conference (workshop or short paper possible).</a:t>
            </a:r>
          </a:p>
          <a:p>
            <a:r>
              <a:rPr lang="en-US" dirty="0"/>
              <a:t>RSS Workshop or Demo sessions (Robotics: Science and Systems) — high-quality, selective; workshops can be more accessible.</a:t>
            </a:r>
          </a:p>
          <a:p>
            <a:r>
              <a:rPr lang="en-US" dirty="0"/>
              <a:t>IEEE Robotics and Automation Letters (RA-L) + ICRA/ IROS conference combo (fast route to publication).</a:t>
            </a:r>
          </a:p>
          <a:p>
            <a:r>
              <a:rPr lang="en-US" dirty="0"/>
              <a:t>Resources, Conservation &amp; Recycling (journal) or Waste Management (journal) — strong for applied waste-sorting and sustainability studies.</a:t>
            </a:r>
          </a:p>
        </p:txBody>
      </p:sp>
      <p:pic>
        <p:nvPicPr>
          <p:cNvPr id="5" name="Graphic 4" descr="Typewriter with solid fill">
            <a:extLst>
              <a:ext uri="{FF2B5EF4-FFF2-40B4-BE49-F238E27FC236}">
                <a16:creationId xmlns:a16="http://schemas.microsoft.com/office/drawing/2014/main" id="{1115B1E1-5164-BB73-E6B7-90B5F6EC46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30502" y="50504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6501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88645-48B8-5A98-272D-8C76FAF02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A3911-0EAC-DF02-3B79-2FB47088D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SpectralWaste</a:t>
            </a:r>
            <a:r>
              <a:rPr lang="en-US" dirty="0"/>
              <a:t> (Multimodal waste dataset, RGB + hyperspectral) —</a:t>
            </a:r>
            <a:r>
              <a:rPr lang="en-US" dirty="0">
                <a:hlinkClick r:id="rId2"/>
              </a:rPr>
              <a:t>sites.google.com/unizar.es/spectralwaste</a:t>
            </a:r>
            <a:r>
              <a:rPr lang="en-US" dirty="0"/>
              <a:t> (multimodal, recent).</a:t>
            </a:r>
          </a:p>
          <a:p>
            <a:r>
              <a:rPr lang="en-US" dirty="0"/>
              <a:t>TACO (Trash Annotations in Context) — </a:t>
            </a:r>
            <a:r>
              <a:rPr lang="en-US" dirty="0">
                <a:hlinkClick r:id="rId3"/>
              </a:rPr>
              <a:t>github.com/</a:t>
            </a:r>
            <a:r>
              <a:rPr lang="en-US" dirty="0" err="1">
                <a:hlinkClick r:id="rId3"/>
              </a:rPr>
              <a:t>pedropro</a:t>
            </a:r>
            <a:r>
              <a:rPr lang="en-US" dirty="0">
                <a:hlinkClick r:id="rId3"/>
              </a:rPr>
              <a:t>/TACO</a:t>
            </a:r>
            <a:r>
              <a:rPr lang="en-US" dirty="0"/>
              <a:t> (segmentation/labels for litter in context; useful for detection/segmentation).</a:t>
            </a:r>
          </a:p>
          <a:p>
            <a:r>
              <a:rPr lang="en-US" dirty="0" err="1"/>
              <a:t>TrashNet</a:t>
            </a:r>
            <a:r>
              <a:rPr lang="en-US" dirty="0"/>
              <a:t> — </a:t>
            </a:r>
            <a:r>
              <a:rPr lang="en-US" dirty="0">
                <a:hlinkClick r:id="rId4"/>
              </a:rPr>
              <a:t>github.com/garythung/trashnet</a:t>
            </a:r>
            <a:r>
              <a:rPr lang="en-US" dirty="0"/>
              <a:t> (small classification dataset of 6 waste categories; good for quick prototypes).</a:t>
            </a:r>
          </a:p>
          <a:p>
            <a:r>
              <a:rPr lang="en-US" dirty="0"/>
              <a:t>RDD2020 / Recycle Dataset variants on Kaggle (mixed recycling datasets; search “recycling dataset” on Kaggle) — practical labeled examples for classification.</a:t>
            </a:r>
          </a:p>
          <a:p>
            <a:r>
              <a:rPr lang="en-US" dirty="0"/>
              <a:t>MJU-Waste (or similar academic datasets like “MJU-Waste Dataset”) — university-collected waste images with labels (search “MJU-Waste dataset download”); good for research on mixed waste.</a:t>
            </a:r>
          </a:p>
        </p:txBody>
      </p:sp>
      <p:pic>
        <p:nvPicPr>
          <p:cNvPr id="5" name="Graphic 4" descr="Database with solid fill">
            <a:extLst>
              <a:ext uri="{FF2B5EF4-FFF2-40B4-BE49-F238E27FC236}">
                <a16:creationId xmlns:a16="http://schemas.microsoft.com/office/drawing/2014/main" id="{9725DC8A-1804-CD4F-453C-0AD88526AB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94074" y="57070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6297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F9671-35C6-A67C-EE7F-41754E843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 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D54B5-8366-E0C3-C2EC-E80C841E9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Safety plan</a:t>
            </a:r>
          </a:p>
          <a:p>
            <a:pPr lvl="1"/>
            <a:r>
              <a:rPr lang="en-US" dirty="0"/>
              <a:t>What it is: documented hazards, required PPE, emergency procedures, lockout/tagout, and who is authorized to operate equipment.</a:t>
            </a:r>
          </a:p>
          <a:p>
            <a:pPr lvl="1"/>
            <a:r>
              <a:rPr lang="en-US" dirty="0"/>
              <a:t>Example: list of risks (arm collision, pinch points, electrical), required PPE (safety glasses, gloves), an emergency stop wiring diagram for UR3e + conveyors, contact list, and weekly safety checks signed by PI.</a:t>
            </a:r>
          </a:p>
          <a:p>
            <a:r>
              <a:rPr lang="en-US" dirty="0"/>
              <a:t>System integration</a:t>
            </a:r>
          </a:p>
          <a:p>
            <a:pPr lvl="1"/>
            <a:r>
              <a:rPr lang="en-US" dirty="0"/>
              <a:t>What it is: connecting hardware, software, and controls so the whole system works together.</a:t>
            </a:r>
          </a:p>
          <a:p>
            <a:pPr lvl="1"/>
            <a:r>
              <a:rPr lang="en-US" dirty="0"/>
              <a:t>Example: mounting UR3e to a frame over the conveyor, wiring conveyor encoder and E-stop to a PLC/ROS driver, configuring </a:t>
            </a:r>
            <a:r>
              <a:rPr lang="en-US" dirty="0" err="1"/>
              <a:t>URScript</a:t>
            </a:r>
            <a:r>
              <a:rPr lang="en-US" dirty="0"/>
              <a:t>/ROS nodes so camera detections command pick-and-place motions, and syncing timestamps across devices.</a:t>
            </a:r>
          </a:p>
          <a:p>
            <a:r>
              <a:rPr lang="en-US" dirty="0"/>
              <a:t>Pilot / general experiments</a:t>
            </a:r>
          </a:p>
          <a:p>
            <a:pPr lvl="1"/>
            <a:r>
              <a:rPr lang="en-US" dirty="0"/>
              <a:t>What it is: small-scale trials to validate feasibility, find parameters, and detect failure modes before full experiments.</a:t>
            </a:r>
          </a:p>
          <a:p>
            <a:pPr lvl="1"/>
            <a:r>
              <a:rPr lang="en-US" dirty="0"/>
              <a:t>Example: run 50 mixed-item runs through one conveyor with one UR3e using a single gripper to measure baseline pick success and sensor errors.</a:t>
            </a:r>
          </a:p>
          <a:p>
            <a:r>
              <a:rPr lang="en-US" dirty="0"/>
              <a:t>Testbed</a:t>
            </a:r>
          </a:p>
          <a:p>
            <a:pPr lvl="1"/>
            <a:r>
              <a:rPr lang="en-US" dirty="0"/>
              <a:t>What it is: the repeatable lab setup used to run controlled experiments.</a:t>
            </a:r>
          </a:p>
          <a:p>
            <a:pPr lvl="1"/>
            <a:r>
              <a:rPr lang="en-US" dirty="0"/>
              <a:t>Example: a framed station with one conveyor, overhead RGB-D camera, UR3e with interchangeable grippers, standardized item set, and a logging PC that records video, robot state, and sensor data.</a:t>
            </a:r>
          </a:p>
          <a:p>
            <a:r>
              <a:rPr lang="en-US" dirty="0"/>
              <a:t>A/B tests</a:t>
            </a:r>
          </a:p>
          <a:p>
            <a:pPr lvl="1"/>
            <a:r>
              <a:rPr lang="en-US" dirty="0"/>
              <a:t>What it is: controlled comparison between two variants to measure impact.</a:t>
            </a:r>
          </a:p>
          <a:p>
            <a:pPr lvl="1"/>
            <a:r>
              <a:rPr lang="en-US" dirty="0"/>
              <a:t>Example: run 200 trials alternating between Gripper A and Gripper B (A first half, B second half or randomized) to compare pick success rate and cycle time; analyze statistically significant differences.</a:t>
            </a:r>
          </a:p>
        </p:txBody>
      </p:sp>
    </p:spTree>
    <p:extLst>
      <p:ext uri="{BB962C8B-B14F-4D97-AF65-F5344CB8AC3E}">
        <p14:creationId xmlns:p14="http://schemas.microsoft.com/office/powerpoint/2010/main" val="32451635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A5159-ED43-3CE5-C21E-5A3BD6B1C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 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F1872-4144-B960-AB39-99898FC29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/>
              <a:t>RGB-D camera: a camera that captures regular color images (RGB) plus depth (distance) for each pixel—helps tell how far objects are.</a:t>
            </a:r>
          </a:p>
          <a:p>
            <a:r>
              <a:rPr lang="en-US" dirty="0"/>
              <a:t>NIR / hyperspectral: sensors that see beyond visible light (near-infrared or many narrow wavelength bands) to identify material properties not visible to our eyes.</a:t>
            </a:r>
          </a:p>
          <a:p>
            <a:r>
              <a:rPr lang="en-US" dirty="0"/>
              <a:t>End-effector: the tool on the robot arm that interacts with objects (gripper, vacuum cup, soft finger).</a:t>
            </a:r>
          </a:p>
          <a:p>
            <a:r>
              <a:rPr lang="en-US" dirty="0"/>
              <a:t>Grasp planner: software that decides where and how the robot should place its gripper to pick an object.</a:t>
            </a:r>
          </a:p>
          <a:p>
            <a:r>
              <a:rPr lang="en-US" dirty="0"/>
              <a:t>Vacuum gripper: uses suction to pick items—works well for flat, smooth surfaces.</a:t>
            </a:r>
          </a:p>
          <a:p>
            <a:r>
              <a:rPr lang="en-US" dirty="0"/>
              <a:t>Soft gripper: flexible fingers that conform to irregular shapes—better for deformable or wet items.</a:t>
            </a:r>
          </a:p>
          <a:p>
            <a:r>
              <a:rPr lang="en-US" dirty="0"/>
              <a:t>Transfer learning: reusing a model trained on one dataset and adapting it to a new, related dataset to save time/data.</a:t>
            </a:r>
          </a:p>
          <a:p>
            <a:r>
              <a:rPr lang="en-US" dirty="0"/>
              <a:t>Active learning: system selects the most informative examples for human labeling to reduce total labeling effort.</a:t>
            </a:r>
          </a:p>
          <a:p>
            <a:r>
              <a:rPr lang="en-US" dirty="0"/>
              <a:t>Conveyor encoder: a sensor that measures conveyor belt position/speed so the robot can time picks accurately.</a:t>
            </a:r>
          </a:p>
          <a:p>
            <a:r>
              <a:rPr lang="en-US" dirty="0"/>
              <a:t>Recall / precision: recall = percent of relevant items correctly found; precision = percent of identified items that were actually correct.</a:t>
            </a:r>
          </a:p>
          <a:p>
            <a:r>
              <a:rPr lang="en-US" dirty="0"/>
              <a:t>Throughput: items processed per minute or hour.</a:t>
            </a:r>
          </a:p>
          <a:p>
            <a:r>
              <a:rPr lang="en-US" dirty="0"/>
              <a:t>False-pick rate: picks where the robot grabbed nothing useful or the wrong item.</a:t>
            </a:r>
          </a:p>
          <a:p>
            <a:r>
              <a:rPr lang="en-US" dirty="0"/>
              <a:t>Multi-arm coordination: controlling two robot arms so they work together without colliding and maximize throughput.</a:t>
            </a:r>
          </a:p>
          <a:p>
            <a:r>
              <a:rPr lang="en-US" dirty="0"/>
              <a:t>Edge compute: running ML models on small local devices (instead of the cloud) next to the sensors.</a:t>
            </a:r>
          </a:p>
          <a:p>
            <a:r>
              <a:rPr lang="en-US" dirty="0"/>
              <a:t>IRB / ethics: institutional review board approval for studies involving human subjects (needed for user behavior pilots).</a:t>
            </a:r>
          </a:p>
          <a:p>
            <a:r>
              <a:rPr lang="en-US" dirty="0"/>
              <a:t>Lockout/tagout: procedure to ensure equipment is de-energized and cannot start unexpectedly during maintenance.</a:t>
            </a:r>
          </a:p>
          <a:p>
            <a:r>
              <a:rPr lang="en-US" dirty="0"/>
              <a:t>ROS: Robot Operating System—a common robotics software framework for coordinating sensors and robot controllers</a:t>
            </a:r>
          </a:p>
        </p:txBody>
      </p:sp>
    </p:spTree>
    <p:extLst>
      <p:ext uri="{BB962C8B-B14F-4D97-AF65-F5344CB8AC3E}">
        <p14:creationId xmlns:p14="http://schemas.microsoft.com/office/powerpoint/2010/main" val="2809126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</TotalTime>
  <Words>1491</Words>
  <Application>Microsoft Office PowerPoint</Application>
  <PresentationFormat>Widescreen</PresentationFormat>
  <Paragraphs>114</Paragraphs>
  <Slides>21</Slides>
  <Notes>0</Notes>
  <HiddenSlides>0</HiddenSlides>
  <MMClips>6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Garbage</vt:lpstr>
      <vt:lpstr>PowerPoint Presentation</vt:lpstr>
      <vt:lpstr>Timeline</vt:lpstr>
      <vt:lpstr>Timeline</vt:lpstr>
      <vt:lpstr>Research Topic Examples</vt:lpstr>
      <vt:lpstr>Market</vt:lpstr>
      <vt:lpstr>Bulk Handling Systems</vt:lpstr>
      <vt:lpstr>Waste Robotics</vt:lpstr>
      <vt:lpstr>Glacier</vt:lpstr>
      <vt:lpstr>Ganiga</vt:lpstr>
      <vt:lpstr>Bin-e</vt:lpstr>
      <vt:lpstr>OscarSort</vt:lpstr>
      <vt:lpstr>TrashBot</vt:lpstr>
      <vt:lpstr>Source Sorting vs Post-Collection</vt:lpstr>
      <vt:lpstr>University Partnership</vt:lpstr>
      <vt:lpstr>Roles</vt:lpstr>
      <vt:lpstr>Resources</vt:lpstr>
      <vt:lpstr>Publications</vt:lpstr>
      <vt:lpstr>Datasets</vt:lpstr>
      <vt:lpstr>Appendix A</vt:lpstr>
      <vt:lpstr>Appendix 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Taiming YuenJames</dc:creator>
  <cp:lastModifiedBy>Taiming YuenJames</cp:lastModifiedBy>
  <cp:revision>3</cp:revision>
  <dcterms:created xsi:type="dcterms:W3CDTF">2025-10-10T02:58:03Z</dcterms:created>
  <dcterms:modified xsi:type="dcterms:W3CDTF">2025-10-10T21:58:34Z</dcterms:modified>
</cp:coreProperties>
</file>